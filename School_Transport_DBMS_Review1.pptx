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1" r:id="rId7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Id1" /><Relationship Type="http://schemas.openxmlformats.org/officeDocument/2006/relationships/slide" Target="slides/slide1.xml" Id="rId2" /><Relationship Type="http://schemas.openxmlformats.org/officeDocument/2006/relationships/slide" Target="slides/slide2.xml" Id="rId3" /><Relationship Type="http://schemas.openxmlformats.org/officeDocument/2006/relationships/slide" Target="slides/slide3.xml" Id="rId4" /><Relationship Type="http://schemas.openxmlformats.org/officeDocument/2006/relationships/slide" Target="slides/slide5.xml" Id="rId6" /><Relationship Type="http://schemas.openxmlformats.org/officeDocument/2006/relationships/slide" Target="slides/slide6.xml" Id="rId7" /><Relationship Type="http://schemas.openxmlformats.org/officeDocument/2006/relationships/notesMaster" Target="notesMasters/notesMaster1.xml" Id="rId9" /><Relationship Type="http://schemas.openxmlformats.org/officeDocument/2006/relationships/presProps" Target="presProps.xml" Id="rId10" /><Relationship Type="http://schemas.openxmlformats.org/officeDocument/2006/relationships/viewProps" Target="viewProps.xml" Id="rId11" /><Relationship Type="http://schemas.openxmlformats.org/officeDocument/2006/relationships/theme" Target="theme/theme1.xml" Id="rId12" /><Relationship Type="http://schemas.openxmlformats.org/officeDocument/2006/relationships/tableStyles" Target="tableStyles.xml" Id="rId13" 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4754880" cy="4754880"/>
          </a:xfrm>
          <a:prstGeom prst="ellipse">
            <a:avLst/>
          </a:prstGeom>
          <a:solidFill>
            <a:srgbClr val="111B33"/>
          </a:solidFill>
          <a:ln/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10972800" y="4206240"/>
            <a:ext cx="2743200" cy="2743200"/>
          </a:xfrm>
          <a:prstGeom prst="ellipse">
            <a:avLst/>
          </a:prstGeom>
          <a:solidFill>
            <a:srgbClr val="111B33"/>
          </a:solidFill>
          <a:ln/>
        </p:spPr>
        <p:txBody>
          <a:bodyPr/>
          <a:lstStyle/>
          <a:p/>
        </p:txBody>
      </p:sp>
      <p:sp>
        <p:nvSpPr>
          <p:cNvPr id="4" name="Shape 2"/>
          <p:cNvSpPr/>
          <p:nvPr/>
        </p:nvSpPr>
        <p:spPr>
          <a:xfrm>
            <a:off x="9464040" y="960120"/>
            <a:ext cx="1737360" cy="1737360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pic>
        <p:nvPicPr>
          <p:cNvPr id="5" name="Image 0" descr="icons/bus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4946" y="1351026"/>
            <a:ext cx="955548" cy="9555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051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   •   REVIEW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0876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 Database Management System for School Transport Route and Student Pickup Management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40080" y="4023360"/>
            <a:ext cx="1828800" cy="0"/>
          </a:xfrm>
          <a:prstGeom prst="line">
            <a:avLst/>
          </a:prstGeom>
          <a:noFill/>
          <a:ln w="3175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Text 6"/>
          <p:cNvSpPr txBox="1"/>
          <p:nvPr/>
        </p:nvSpPr>
        <p:spPr>
          <a:xfrm>
            <a:off x="640080" y="4251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3E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system to manage routes, stops, bus assignments, registrations, pickup attendance, fee tracking, and vehicle maintenance.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989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[G.Jagadeeesh ----- 25WUO102090],AIML Rhinos]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640080" y="63093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Guide: DBMS Project Review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Identification &amp;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FCE8B2"/>
          </a:solidFill>
          <a:ln/>
        </p:spPr>
        <p:txBody>
          <a:bodyPr/>
          <a:lstStyle/>
          <a:p/>
        </p:txBody>
      </p:sp>
      <p:pic>
        <p:nvPicPr>
          <p:cNvPr id="5" name="Image 0" descr="icons/warning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1816364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66420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Record-Keeping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195681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transport operations rely on manual or fragmented records.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FCE8B2"/>
          </a:solidFill>
          <a:ln/>
        </p:spPr>
        <p:txBody>
          <a:bodyPr/>
          <a:lstStyle/>
          <a:p/>
        </p:txBody>
      </p:sp>
      <p:pic>
        <p:nvPicPr>
          <p:cNvPr id="9" name="Image 1" descr="icons/mapmarked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64" y="3050804"/>
            <a:ext cx="317480" cy="317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8448" y="289864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1298448" y="319125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insight into bus capacity, driver/attendant allocation, or daily pickup status.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FCE8B2"/>
          </a:solidFill>
          <a:ln/>
        </p:spPr>
        <p:txBody>
          <a:bodyPr/>
          <a:lstStyle/>
          <a:p/>
        </p:txBody>
      </p:sp>
      <p:pic>
        <p:nvPicPr>
          <p:cNvPr id="13" name="Image 2" descr="icons/money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4285244"/>
            <a:ext cx="317480" cy="317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413308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&amp; Maintenance Untracked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1298448" y="442569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tracking transport fee dues and vehicle maintenance logs efficiently.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178040" y="1234440"/>
            <a:ext cx="4480560" cy="5166360"/>
          </a:xfrm>
          <a:prstGeom prst="roundRect">
            <a:avLst>
              <a:gd name="adj" fmla="val 2449"/>
            </a:avLst>
          </a:prstGeom>
          <a:solidFill>
            <a:srgbClr val="1B2A4A"/>
          </a:solidFill>
          <a:ln/>
          <a:effectLst>
            <a:outerShdw blurRad="101600" dist="38100" dir="540000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7" name="Shape 12"/>
          <p:cNvSpPr/>
          <p:nvPr/>
        </p:nvSpPr>
        <p:spPr>
          <a:xfrm>
            <a:off x="7498080" y="1554480"/>
            <a:ext cx="566928" cy="566928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pic>
        <p:nvPicPr>
          <p:cNvPr id="18" name="Image 3" descr="icons/layergrou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2804" y="1679204"/>
            <a:ext cx="317480" cy="317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29600" y="16184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749808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7498080" y="26060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managing routes, stops, bus assignments, student registrations, daily pickup attendance, fee tracking, and vehicle maintenance logs.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498080" y="4114800"/>
            <a:ext cx="3840480" cy="0"/>
          </a:xfrm>
          <a:prstGeom prst="line">
            <a:avLst/>
          </a:prstGeom>
          <a:noFill/>
          <a:ln w="12700">
            <a:solidFill>
              <a:srgbClr val="3A4A70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Text 17"/>
          <p:cNvSpPr txBox="1"/>
          <p:nvPr/>
        </p:nvSpPr>
        <p:spPr>
          <a:xfrm>
            <a:off x="7498080" y="4343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7498080" y="46634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tracking hardware integration — the project focuses on core database operations, business rules, and the management interface.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User Roles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FCE8B2"/>
          </a:solidFill>
          <a:ln/>
        </p:spPr>
        <p:txBody>
          <a:bodyPr/>
          <a:lstStyle/>
          <a:p/>
        </p:txBody>
      </p:sp>
      <p:pic>
        <p:nvPicPr>
          <p:cNvPr id="5" name="Image 0" descr="icons/bullseye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5636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4447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 relational database (up to 3NF) for school transport operations.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21408"/>
            <a:ext cx="457200" cy="457200"/>
          </a:xfrm>
          <a:prstGeom prst="ellipse">
            <a:avLst/>
          </a:prstGeom>
          <a:solidFill>
            <a:srgbClr val="FCE8B2"/>
          </a:solidFill>
          <a:ln/>
        </p:spPr>
        <p:txBody>
          <a:bodyPr/>
          <a:lstStyle/>
          <a:p/>
        </p:txBody>
      </p:sp>
      <p:pic>
        <p:nvPicPr>
          <p:cNvPr id="8" name="Image 1" descr="icons/idcard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221992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70432" y="21031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business constraints — bus capacity limits, single active assignment, valid driver licenses.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779776"/>
            <a:ext cx="457200" cy="457200"/>
          </a:xfrm>
          <a:prstGeom prst="ellipse">
            <a:avLst/>
          </a:prstGeom>
          <a:solidFill>
            <a:srgbClr val="FCE8B2"/>
          </a:solidFill>
          <a:ln/>
        </p:spPr>
        <p:txBody>
          <a:bodyPr/>
          <a:lstStyle/>
          <a:p/>
        </p:txBody>
      </p:sp>
      <p:pic>
        <p:nvPicPr>
          <p:cNvPr id="11" name="Image 2" descr="icons/databas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88036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70432" y="27614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front-end application (Python/Java) for administrative tasks and automated reporting.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529584"/>
            <a:ext cx="11109960" cy="0"/>
          </a:xfrm>
          <a:prstGeom prst="line">
            <a:avLst/>
          </a:prstGeom>
          <a:noFill/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Text 9"/>
          <p:cNvSpPr txBox="1"/>
          <p:nvPr/>
        </p:nvSpPr>
        <p:spPr>
          <a:xfrm>
            <a:off x="548640" y="375818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&amp; ROLES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4215384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7F5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1"/>
          <p:cNvSpPr/>
          <p:nvPr/>
        </p:nvSpPr>
        <p:spPr>
          <a:xfrm>
            <a:off x="777240" y="4443984"/>
            <a:ext cx="566928" cy="566928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pic>
        <p:nvPicPr>
          <p:cNvPr id="17" name="Image 3" descr="icons/userti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4568708"/>
            <a:ext cx="317480" cy="317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7240" y="512978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Admin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5449824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routes, buses, driver assignments, fee plans, and maintenance logs.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43400" y="4215384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7F5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Shape 15"/>
          <p:cNvSpPr/>
          <p:nvPr/>
        </p:nvSpPr>
        <p:spPr>
          <a:xfrm>
            <a:off x="4572000" y="4443984"/>
            <a:ext cx="566928" cy="566928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pic>
        <p:nvPicPr>
          <p:cNvPr id="22" name="Image 4" descr="icons/graduat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6724" y="4568708"/>
            <a:ext cx="317480" cy="317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72000" y="512978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Driver / Attendant</a:t>
            </a:r>
            <a:endParaRPr lang="en-US" sz="1450" dirty="0"/>
          </a:p>
        </p:txBody>
      </p:sp>
      <p:sp>
        <p:nvSpPr>
          <p:cNvPr id="24" name="Text 17"/>
          <p:cNvSpPr txBox="1"/>
          <p:nvPr/>
        </p:nvSpPr>
        <p:spPr>
          <a:xfrm>
            <a:off x="4572000" y="5449824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daily pickup logs and attendance for assigned routes.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138160" y="4215384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7F5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Shape 19"/>
          <p:cNvSpPr/>
          <p:nvPr/>
        </p:nvSpPr>
        <p:spPr>
          <a:xfrm>
            <a:off x="8366760" y="4443984"/>
            <a:ext cx="566928" cy="566928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pic>
        <p:nvPicPr>
          <p:cNvPr id="27" name="Image 5" descr="icons/user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1484" y="4568708"/>
            <a:ext cx="317480" cy="31748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366760" y="512978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/ Students</a:t>
            </a:r>
            <a:endParaRPr lang="en-US" sz="1450" dirty="0"/>
          </a:p>
        </p:txBody>
      </p:sp>
      <p:sp>
        <p:nvSpPr>
          <p:cNvPr id="29" name="Text 21"/>
          <p:cNvSpPr txBox="1"/>
          <p:nvPr/>
        </p:nvSpPr>
        <p:spPr>
          <a:xfrm>
            <a:off x="8366760" y="5449824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route details, assigned stops, and fee payment status.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Design — Entities &amp; Relationships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CREW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160520" y="1051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NETWORK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BILLING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212080" y="1975104"/>
            <a:ext cx="388620" cy="493776"/>
          </a:xfrm>
          <a:prstGeom prst="line">
            <a:avLst/>
          </a:prstGeom>
          <a:noFill/>
          <a:ln w="19050">
            <a:solidFill>
              <a:srgbClr val="A9B3C4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6240780" y="1975104"/>
            <a:ext cx="754380" cy="493776"/>
          </a:xfrm>
          <a:prstGeom prst="line">
            <a:avLst/>
          </a:prstGeom>
          <a:noFill/>
          <a:ln w="19050">
            <a:solidFill>
              <a:srgbClr val="A9B3C4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Shape 6"/>
          <p:cNvSpPr/>
          <p:nvPr/>
        </p:nvSpPr>
        <p:spPr>
          <a:xfrm>
            <a:off x="2103120" y="1975104"/>
            <a:ext cx="0" cy="493776"/>
          </a:xfrm>
          <a:prstGeom prst="line">
            <a:avLst/>
          </a:prstGeom>
          <a:noFill/>
          <a:ln w="19050">
            <a:solidFill>
              <a:srgbClr val="A9B3C4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7"/>
          <p:cNvSpPr/>
          <p:nvPr/>
        </p:nvSpPr>
        <p:spPr>
          <a:xfrm>
            <a:off x="9829800" y="1975104"/>
            <a:ext cx="182880" cy="493776"/>
          </a:xfrm>
          <a:prstGeom prst="line">
            <a:avLst/>
          </a:prstGeom>
          <a:noFill/>
          <a:ln w="19050">
            <a:solidFill>
              <a:srgbClr val="A9B3C4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/>
          <p:nvPr/>
        </p:nvSpPr>
        <p:spPr>
          <a:xfrm>
            <a:off x="8915400" y="2980944"/>
            <a:ext cx="365760" cy="493776"/>
          </a:xfrm>
          <a:prstGeom prst="line">
            <a:avLst/>
          </a:prstGeom>
          <a:noFill/>
          <a:ln w="19050">
            <a:solidFill>
              <a:srgbClr val="A9B3C4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/>
          <p:nvPr/>
        </p:nvSpPr>
        <p:spPr>
          <a:xfrm>
            <a:off x="10378440" y="2980944"/>
            <a:ext cx="457200" cy="493776"/>
          </a:xfrm>
          <a:prstGeom prst="line">
            <a:avLst/>
          </a:prstGeom>
          <a:noFill/>
          <a:ln w="19050">
            <a:solidFill>
              <a:srgbClr val="A9B3C4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/>
          <p:nvPr/>
        </p:nvSpPr>
        <p:spPr>
          <a:xfrm>
            <a:off x="9829800" y="2980944"/>
            <a:ext cx="91440" cy="1499616"/>
          </a:xfrm>
          <a:prstGeom prst="line">
            <a:avLst/>
          </a:prstGeom>
          <a:noFill/>
          <a:ln w="19050">
            <a:solidFill>
              <a:srgbClr val="A9B3C4"/>
            </a:solidFill>
            <a:prstDash val="dash"/>
          </a:ln>
        </p:spPr>
        <p:txBody>
          <a:bodyPr/>
          <a:lstStyle/>
          <a:p/>
        </p:txBody>
      </p:sp>
      <p:sp>
        <p:nvSpPr>
          <p:cNvPr id="13" name="Shape 11"/>
          <p:cNvSpPr/>
          <p:nvPr/>
        </p:nvSpPr>
        <p:spPr>
          <a:xfrm>
            <a:off x="10104120" y="3986784"/>
            <a:ext cx="731520" cy="493776"/>
          </a:xfrm>
          <a:prstGeom prst="line">
            <a:avLst/>
          </a:prstGeom>
          <a:noFill/>
          <a:ln w="19050">
            <a:solidFill>
              <a:srgbClr val="A9B3C4"/>
            </a:solidFill>
            <a:prstDash val="dash"/>
          </a:ln>
        </p:spPr>
        <p:txBody>
          <a:bodyPr/>
          <a:lstStyle/>
          <a:p/>
        </p:txBody>
      </p:sp>
      <p:sp>
        <p:nvSpPr>
          <p:cNvPr id="14" name="Shape 12"/>
          <p:cNvSpPr/>
          <p:nvPr/>
        </p:nvSpPr>
        <p:spPr>
          <a:xfrm>
            <a:off x="3017520" y="1719072"/>
            <a:ext cx="1463040" cy="0"/>
          </a:xfrm>
          <a:prstGeom prst="line">
            <a:avLst/>
          </a:prstGeom>
          <a:noFill/>
          <a:ln w="19050">
            <a:solidFill>
              <a:srgbClr val="A9B3C4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/>
          <p:nvPr/>
        </p:nvSpPr>
        <p:spPr>
          <a:xfrm>
            <a:off x="6949440" y="2724912"/>
            <a:ext cx="1371600" cy="0"/>
          </a:xfrm>
          <a:prstGeom prst="line">
            <a:avLst/>
          </a:prstGeom>
          <a:noFill/>
          <a:ln w="19050">
            <a:solidFill>
              <a:srgbClr val="A9B3C4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/>
          <p:nvPr/>
        </p:nvSpPr>
        <p:spPr>
          <a:xfrm>
            <a:off x="1188720" y="1463040"/>
            <a:ext cx="1828800" cy="512064"/>
          </a:xfrm>
          <a:prstGeom prst="roundRect">
            <a:avLst>
              <a:gd name="adj" fmla="val 10714"/>
            </a:avLst>
          </a:prstGeom>
          <a:solidFill>
            <a:srgbClr val="1B2A4A"/>
          </a:solidFill>
          <a:ln/>
        </p:spPr>
        <p:txBody>
          <a:bodyPr/>
          <a:lstStyle/>
          <a:p/>
        </p:txBody>
      </p:sp>
      <p:sp>
        <p:nvSpPr>
          <p:cNvPr id="17" name="Text 15"/>
          <p:cNvSpPr txBox="1"/>
          <p:nvPr/>
        </p:nvSpPr>
        <p:spPr>
          <a:xfrm>
            <a:off x="1188720" y="146304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2468880"/>
            <a:ext cx="2377440" cy="512064"/>
          </a:xfrm>
          <a:prstGeom prst="roundRect">
            <a:avLst>
              <a:gd name="adj" fmla="val 10714"/>
            </a:avLst>
          </a:prstGeom>
          <a:solidFill>
            <a:srgbClr val="1B2A4A"/>
          </a:solidFill>
          <a:ln/>
        </p:spPr>
        <p:txBody>
          <a:bodyPr/>
          <a:lstStyle/>
          <a:p/>
        </p:txBody>
      </p:sp>
      <p:sp>
        <p:nvSpPr>
          <p:cNvPr id="19" name="Text 17"/>
          <p:cNvSpPr txBox="1"/>
          <p:nvPr/>
        </p:nvSpPr>
        <p:spPr>
          <a:xfrm>
            <a:off x="914400" y="246888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MAINTENANCE_RECORD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474720"/>
            <a:ext cx="1097280" cy="512064"/>
          </a:xfrm>
          <a:prstGeom prst="roundRect">
            <a:avLst>
              <a:gd name="adj" fmla="val 10714"/>
            </a:avLst>
          </a:prstGeom>
          <a:solidFill>
            <a:srgbClr val="1B2A4A"/>
          </a:solidFill>
          <a:ln/>
        </p:spPr>
        <p:txBody>
          <a:bodyPr/>
          <a:lstStyle/>
          <a:p/>
        </p:txBody>
      </p:sp>
      <p:sp>
        <p:nvSpPr>
          <p:cNvPr id="21" name="Text 19"/>
          <p:cNvSpPr txBox="1"/>
          <p:nvPr/>
        </p:nvSpPr>
        <p:spPr>
          <a:xfrm>
            <a:off x="914400" y="347472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94560" y="3474720"/>
            <a:ext cx="1097280" cy="512064"/>
          </a:xfrm>
          <a:prstGeom prst="roundRect">
            <a:avLst>
              <a:gd name="adj" fmla="val 10714"/>
            </a:avLst>
          </a:prstGeom>
          <a:solidFill>
            <a:srgbClr val="1B2A4A"/>
          </a:solidFill>
          <a:ln/>
        </p:spPr>
        <p:txBody>
          <a:bodyPr/>
          <a:lstStyle/>
          <a:p/>
        </p:txBody>
      </p:sp>
      <p:sp>
        <p:nvSpPr>
          <p:cNvPr id="23" name="Text 21"/>
          <p:cNvSpPr txBox="1"/>
          <p:nvPr/>
        </p:nvSpPr>
        <p:spPr>
          <a:xfrm>
            <a:off x="2194560" y="347472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1463040"/>
            <a:ext cx="1463040" cy="512064"/>
          </a:xfrm>
          <a:prstGeom prst="roundRect">
            <a:avLst>
              <a:gd name="adj" fmla="val 10714"/>
            </a:avLst>
          </a:prstGeom>
          <a:solidFill>
            <a:srgbClr val="1B2A4A"/>
          </a:solidFill>
          <a:ln/>
        </p:spPr>
        <p:txBody>
          <a:bodyPr/>
          <a:lstStyle/>
          <a:p/>
        </p:txBody>
      </p:sp>
      <p:sp>
        <p:nvSpPr>
          <p:cNvPr id="25" name="Text 23"/>
          <p:cNvSpPr txBox="1"/>
          <p:nvPr/>
        </p:nvSpPr>
        <p:spPr>
          <a:xfrm>
            <a:off x="4480560" y="14630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1463040"/>
            <a:ext cx="1463040" cy="512064"/>
          </a:xfrm>
          <a:prstGeom prst="roundRect">
            <a:avLst>
              <a:gd name="adj" fmla="val 10714"/>
            </a:avLst>
          </a:prstGeom>
          <a:solidFill>
            <a:srgbClr val="1B2A4A"/>
          </a:solidFill>
          <a:ln/>
        </p:spPr>
        <p:txBody>
          <a:bodyPr/>
          <a:lstStyle/>
          <a:p/>
        </p:txBody>
      </p:sp>
      <p:sp>
        <p:nvSpPr>
          <p:cNvPr id="27" name="Text 25"/>
          <p:cNvSpPr txBox="1"/>
          <p:nvPr/>
        </p:nvSpPr>
        <p:spPr>
          <a:xfrm>
            <a:off x="6263640" y="14630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2468880"/>
            <a:ext cx="2057400" cy="512064"/>
          </a:xfrm>
          <a:prstGeom prst="roundRect">
            <a:avLst>
              <a:gd name="adj" fmla="val 10714"/>
            </a:avLst>
          </a:prstGeom>
          <a:solidFill>
            <a:srgbClr val="1B2A4A"/>
          </a:solidFill>
          <a:ln/>
        </p:spPr>
        <p:txBody>
          <a:bodyPr/>
          <a:lstStyle/>
          <a:p/>
        </p:txBody>
      </p:sp>
      <p:sp>
        <p:nvSpPr>
          <p:cNvPr id="29" name="Text 27"/>
          <p:cNvSpPr txBox="1"/>
          <p:nvPr/>
        </p:nvSpPr>
        <p:spPr>
          <a:xfrm>
            <a:off x="4892040" y="246888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ROUTE_SEQUENCE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0" y="1463040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1B2A4A"/>
          </a:solidFill>
          <a:ln/>
        </p:spPr>
        <p:txBody>
          <a:bodyPr/>
          <a:lstStyle/>
          <a:p/>
        </p:txBody>
      </p:sp>
      <p:sp>
        <p:nvSpPr>
          <p:cNvPr id="31" name="Text 29"/>
          <p:cNvSpPr txBox="1"/>
          <p:nvPr/>
        </p:nvSpPr>
        <p:spPr>
          <a:xfrm>
            <a:off x="9144000" y="146304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21040" y="2468880"/>
            <a:ext cx="3017520" cy="512064"/>
          </a:xfrm>
          <a:prstGeom prst="roundRect">
            <a:avLst>
              <a:gd name="adj" fmla="val 10714"/>
            </a:avLst>
          </a:prstGeom>
          <a:solidFill>
            <a:srgbClr val="1B2A4A"/>
          </a:solidFill>
          <a:ln/>
        </p:spPr>
        <p:txBody>
          <a:bodyPr/>
          <a:lstStyle/>
          <a:p/>
        </p:txBody>
      </p:sp>
      <p:sp>
        <p:nvSpPr>
          <p:cNvPr id="33" name="Text 31"/>
          <p:cNvSpPr txBox="1"/>
          <p:nvPr/>
        </p:nvSpPr>
        <p:spPr>
          <a:xfrm>
            <a:off x="8321040" y="246888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TRANSPORT_REGISTRATION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92440" y="3474720"/>
            <a:ext cx="1645920" cy="512064"/>
          </a:xfrm>
          <a:prstGeom prst="roundRect">
            <a:avLst>
              <a:gd name="adj" fmla="val 10714"/>
            </a:avLst>
          </a:prstGeom>
          <a:solidFill>
            <a:srgbClr val="1B2A4A"/>
          </a:solidFill>
          <a:ln/>
        </p:spPr>
        <p:txBody>
          <a:bodyPr/>
          <a:lstStyle/>
          <a:p/>
        </p:txBody>
      </p:sp>
      <p:sp>
        <p:nvSpPr>
          <p:cNvPr id="35" name="Text 33"/>
          <p:cNvSpPr txBox="1"/>
          <p:nvPr/>
        </p:nvSpPr>
        <p:spPr>
          <a:xfrm>
            <a:off x="8092440" y="34747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PICKUP_LOG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012680" y="3474720"/>
            <a:ext cx="1645920" cy="512064"/>
          </a:xfrm>
          <a:prstGeom prst="roundRect">
            <a:avLst>
              <a:gd name="adj" fmla="val 10714"/>
            </a:avLst>
          </a:prstGeom>
          <a:solidFill>
            <a:srgbClr val="1B2A4A"/>
          </a:solidFill>
          <a:ln/>
        </p:spPr>
        <p:txBody>
          <a:bodyPr/>
          <a:lstStyle/>
          <a:p/>
        </p:txBody>
      </p:sp>
      <p:sp>
        <p:nvSpPr>
          <p:cNvPr id="37" name="Text 35"/>
          <p:cNvSpPr txBox="1"/>
          <p:nvPr/>
        </p:nvSpPr>
        <p:spPr>
          <a:xfrm>
            <a:off x="10012680" y="34747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FEE_PLAN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52560" y="4480560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1B2A4A"/>
          </a:solidFill>
          <a:ln/>
        </p:spPr>
        <p:txBody>
          <a:bodyPr/>
          <a:lstStyle/>
          <a:p/>
        </p:txBody>
      </p:sp>
      <p:sp>
        <p:nvSpPr>
          <p:cNvPr id="39" name="Text 37"/>
          <p:cNvSpPr txBox="1"/>
          <p:nvPr/>
        </p:nvSpPr>
        <p:spPr>
          <a:xfrm>
            <a:off x="9052560" y="448056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154680" y="1600200"/>
            <a:ext cx="1188720" cy="237744"/>
          </a:xfrm>
          <a:prstGeom prst="rect">
            <a:avLst/>
          </a:prstGeom>
          <a:solidFill>
            <a:srgbClr val="F7F7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7132320" y="2606040"/>
            <a:ext cx="1005840" cy="237744"/>
          </a:xfrm>
          <a:prstGeom prst="rect">
            <a:avLst/>
          </a:prstGeom>
          <a:solidFill>
            <a:srgbClr val="F7F7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0" y="2103120"/>
            <a:ext cx="914400" cy="237744"/>
          </a:xfrm>
          <a:prstGeom prst="rect">
            <a:avLst/>
          </a:prstGeom>
          <a:solidFill>
            <a:srgbClr val="F7F7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5989320"/>
            <a:ext cx="11292840" cy="621792"/>
          </a:xfrm>
          <a:prstGeom prst="roundRect">
            <a:avLst>
              <a:gd name="adj" fmla="val 8824"/>
            </a:avLst>
          </a:prstGeom>
          <a:solidFill>
            <a:srgbClr val="F7F7F5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Text 42"/>
          <p:cNvSpPr txBox="1"/>
          <p:nvPr/>
        </p:nvSpPr>
        <p:spPr>
          <a:xfrm>
            <a:off x="640080" y="5989320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relationships:  </a:t>
            </a: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contains many STOPS ordered via ROUTE_SEQUENCE   •   A STUDENT has one active TRANSPORT_REGISTRATION mapped to a ROUTE &amp; STOP   •   A BUS undergoes multiple MAINTENANCE_RECORDS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&amp; Table Definitions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tables — primary keys (PK), foreign keys (FK), and unique constraints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6576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/>
          <p:nvPr/>
        </p:nvSpPr>
        <p:spPr>
          <a:xfrm>
            <a:off x="457200" y="1170432"/>
            <a:ext cx="73152" cy="1170432"/>
          </a:xfrm>
          <a:prstGeom prst="rect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sp>
        <p:nvSpPr>
          <p:cNvPr id="6" name="Text 4"/>
          <p:cNvSpPr txBox="1"/>
          <p:nvPr/>
        </p:nvSpPr>
        <p:spPr>
          <a:xfrm>
            <a:off x="658368" y="12435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544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Bus_ID [PK], Registration_Num [UNIQUE], Capacity, Model, Status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4279392" y="1170432"/>
            <a:ext cx="36576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7"/>
          <p:cNvSpPr/>
          <p:nvPr/>
        </p:nvSpPr>
        <p:spPr>
          <a:xfrm>
            <a:off x="4279392" y="1170432"/>
            <a:ext cx="73152" cy="1170432"/>
          </a:xfrm>
          <a:prstGeom prst="rect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sp>
        <p:nvSpPr>
          <p:cNvPr id="10" name="Text 8"/>
          <p:cNvSpPr txBox="1"/>
          <p:nvPr/>
        </p:nvSpPr>
        <p:spPr>
          <a:xfrm>
            <a:off x="4480560" y="12435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15544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Route_ID [PK], Route_Name, Start_Point, End_Point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8101584" y="1170432"/>
            <a:ext cx="36576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/>
          <p:nvPr/>
        </p:nvSpPr>
        <p:spPr>
          <a:xfrm>
            <a:off x="8101584" y="1170432"/>
            <a:ext cx="73152" cy="1170432"/>
          </a:xfrm>
          <a:prstGeom prst="rect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sp>
        <p:nvSpPr>
          <p:cNvPr id="14" name="Text 12"/>
          <p:cNvSpPr txBox="1"/>
          <p:nvPr/>
        </p:nvSpPr>
        <p:spPr>
          <a:xfrm>
            <a:off x="8302752" y="12435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15544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Stop_ID [PK], Stop_Name, Location_Details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57200" y="2478024"/>
            <a:ext cx="36576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Shape 15"/>
          <p:cNvSpPr/>
          <p:nvPr/>
        </p:nvSpPr>
        <p:spPr>
          <a:xfrm>
            <a:off x="457200" y="2478024"/>
            <a:ext cx="73152" cy="1170432"/>
          </a:xfrm>
          <a:prstGeom prst="rect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sp>
        <p:nvSpPr>
          <p:cNvPr id="18" name="Text 16"/>
          <p:cNvSpPr txBox="1"/>
          <p:nvPr/>
        </p:nvSpPr>
        <p:spPr>
          <a:xfrm>
            <a:off x="658368" y="25511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ROUTE_SEQUENCE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86207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Sequence_ID [PK], Route_ID [FK], Stop_ID [FK], Stop_Order, Estimated_Time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4279392" y="2478024"/>
            <a:ext cx="36576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Shape 19"/>
          <p:cNvSpPr/>
          <p:nvPr/>
        </p:nvSpPr>
        <p:spPr>
          <a:xfrm>
            <a:off x="4279392" y="2478024"/>
            <a:ext cx="73152" cy="1170432"/>
          </a:xfrm>
          <a:prstGeom prst="rect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sp>
        <p:nvSpPr>
          <p:cNvPr id="22" name="Text 20"/>
          <p:cNvSpPr txBox="1"/>
          <p:nvPr/>
        </p:nvSpPr>
        <p:spPr>
          <a:xfrm>
            <a:off x="4480560" y="25511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286207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Driver_ID [PK], Name, License_Number [UNIQUE], Contact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8101584" y="2478024"/>
            <a:ext cx="36576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Shape 23"/>
          <p:cNvSpPr/>
          <p:nvPr/>
        </p:nvSpPr>
        <p:spPr>
          <a:xfrm>
            <a:off x="8101584" y="2478024"/>
            <a:ext cx="73152" cy="1170432"/>
          </a:xfrm>
          <a:prstGeom prst="rect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sp>
        <p:nvSpPr>
          <p:cNvPr id="26" name="Text 24"/>
          <p:cNvSpPr txBox="1"/>
          <p:nvPr/>
        </p:nvSpPr>
        <p:spPr>
          <a:xfrm>
            <a:off x="8302752" y="25511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302752" y="286207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Attendant_ID [PK], Name, Contact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57200" y="3785616"/>
            <a:ext cx="36576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Shape 27"/>
          <p:cNvSpPr/>
          <p:nvPr/>
        </p:nvSpPr>
        <p:spPr>
          <a:xfrm>
            <a:off x="457200" y="3785616"/>
            <a:ext cx="73152" cy="1170432"/>
          </a:xfrm>
          <a:prstGeom prst="rect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sp>
        <p:nvSpPr>
          <p:cNvPr id="30" name="Text 28"/>
          <p:cNvSpPr txBox="1"/>
          <p:nvPr/>
        </p:nvSpPr>
        <p:spPr>
          <a:xfrm>
            <a:off x="658368" y="3858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416966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 [PK], Name, Grade, Parent_Contact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4279392" y="3785616"/>
            <a:ext cx="36576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Shape 31"/>
          <p:cNvSpPr/>
          <p:nvPr/>
        </p:nvSpPr>
        <p:spPr>
          <a:xfrm>
            <a:off x="4279392" y="3785616"/>
            <a:ext cx="73152" cy="1170432"/>
          </a:xfrm>
          <a:prstGeom prst="rect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sp>
        <p:nvSpPr>
          <p:cNvPr id="34" name="Text 32"/>
          <p:cNvSpPr txBox="1"/>
          <p:nvPr/>
        </p:nvSpPr>
        <p:spPr>
          <a:xfrm>
            <a:off x="4480560" y="3858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TRANSPORT_REGISTRATION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480560" y="416966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Registration_ID [PK], Student_ID [FK], Route_ID [FK], Stop_ID [FK], Status, Start_Date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8101584" y="3785616"/>
            <a:ext cx="36576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Shape 35"/>
          <p:cNvSpPr/>
          <p:nvPr/>
        </p:nvSpPr>
        <p:spPr>
          <a:xfrm>
            <a:off x="8101584" y="3785616"/>
            <a:ext cx="73152" cy="1170432"/>
          </a:xfrm>
          <a:prstGeom prst="rect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sp>
        <p:nvSpPr>
          <p:cNvPr id="38" name="Text 36"/>
          <p:cNvSpPr txBox="1"/>
          <p:nvPr/>
        </p:nvSpPr>
        <p:spPr>
          <a:xfrm>
            <a:off x="8302752" y="3858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PICKUP_LOG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302752" y="416966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Log_ID [PK], Registration_ID [FK], Date, Pickup_Time, Status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457200" y="5093208"/>
            <a:ext cx="36576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Shape 39"/>
          <p:cNvSpPr/>
          <p:nvPr/>
        </p:nvSpPr>
        <p:spPr>
          <a:xfrm>
            <a:off x="457200" y="5093208"/>
            <a:ext cx="73152" cy="1170432"/>
          </a:xfrm>
          <a:prstGeom prst="rect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sp>
        <p:nvSpPr>
          <p:cNvPr id="42" name="Text 40"/>
          <p:cNvSpPr txBox="1"/>
          <p:nvPr/>
        </p:nvSpPr>
        <p:spPr>
          <a:xfrm>
            <a:off x="658368" y="5166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FEE_PLAN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547725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Plan_ID [PK], Plan_Name, Amount, Billing_Cycle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4279392" y="5093208"/>
            <a:ext cx="36576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45" name="Shape 43"/>
          <p:cNvSpPr/>
          <p:nvPr/>
        </p:nvSpPr>
        <p:spPr>
          <a:xfrm>
            <a:off x="4279392" y="5093208"/>
            <a:ext cx="73152" cy="1170432"/>
          </a:xfrm>
          <a:prstGeom prst="rect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sp>
        <p:nvSpPr>
          <p:cNvPr id="46" name="Text 44"/>
          <p:cNvSpPr txBox="1"/>
          <p:nvPr/>
        </p:nvSpPr>
        <p:spPr>
          <a:xfrm>
            <a:off x="4480560" y="5166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4480560" y="547725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Payment_ID [PK], Registration_ID [FK], Plan_ID [FK], Amount_Paid, Payment_Date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8101584" y="5093208"/>
            <a:ext cx="36576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  <p:txBody>
          <a:bodyPr/>
          <a:lstStyle/>
          <a:p/>
        </p:txBody>
      </p:sp>
      <p:sp>
        <p:nvSpPr>
          <p:cNvPr id="49" name="Shape 47"/>
          <p:cNvSpPr/>
          <p:nvPr/>
        </p:nvSpPr>
        <p:spPr>
          <a:xfrm>
            <a:off x="8101584" y="5093208"/>
            <a:ext cx="73152" cy="1170432"/>
          </a:xfrm>
          <a:prstGeom prst="rect">
            <a:avLst/>
          </a:prstGeom>
          <a:solidFill>
            <a:srgbClr val="F5B700"/>
          </a:solidFill>
          <a:ln/>
        </p:spPr>
        <p:txBody>
          <a:bodyPr/>
          <a:lstStyle/>
          <a:p/>
        </p:txBody>
      </p:sp>
      <p:sp>
        <p:nvSpPr>
          <p:cNvPr id="50" name="Text 48"/>
          <p:cNvSpPr txBox="1"/>
          <p:nvPr/>
        </p:nvSpPr>
        <p:spPr>
          <a:xfrm>
            <a:off x="8302752" y="5166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MAINTENANCE_RECORD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8302752" y="547725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Record_ID [PK], Bus_ID [FK], Service_Date, Cost, Description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PptxGenJS Presentation</dc:title>
  <dc:subject>PptxGenJS Presentation</dc:subject>
  <dc:creator>PptxGenJS</dc:creator>
  <lastModifiedBy>PptxGenJS</lastModifiedBy>
  <revision>1</revision>
  <dcterms:created xsi:type="dcterms:W3CDTF">2026-09-07T18:45:31.0000000Z</dcterms:created>
  <dcterms:modified xsi:type="dcterms:W3CDTF">2026-10-12T05:36:17.3407583Z</dcterms:modified>
</coreProperties>
</file>