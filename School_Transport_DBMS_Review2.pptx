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slideMasters/slideMaster1.xml" Id="rId1" /><Relationship Type="http://schemas.openxmlformats.org/officeDocument/2006/relationships/slide" Target="slides/slide1.xml" Id="rId2" /><Relationship Type="http://schemas.openxmlformats.org/officeDocument/2006/relationships/slide" Target="slides/slide2.xml" Id="rId3" /><Relationship Type="http://schemas.openxmlformats.org/officeDocument/2006/relationships/slide" Target="slides/slide5.xml" Id="rId6" /><Relationship Type="http://schemas.openxmlformats.org/officeDocument/2006/relationships/slide" Target="slides/slide6.xml" Id="rId7" /><Relationship Type="http://schemas.openxmlformats.org/officeDocument/2006/relationships/slide" Target="slides/slide7.xml" Id="rId8" /><Relationship Type="http://schemas.openxmlformats.org/officeDocument/2006/relationships/notesMaster" Target="notesMasters/notesMaster1.xml" Id="rId9" /><Relationship Type="http://schemas.openxmlformats.org/officeDocument/2006/relationships/presProps" Target="presProps.xml" Id="rId10" /><Relationship Type="http://schemas.openxmlformats.org/officeDocument/2006/relationships/viewProps" Target="viewProps.xml" Id="rId11" /><Relationship Type="http://schemas.openxmlformats.org/officeDocument/2006/relationships/theme" Target="theme/theme1.xml" Id="rId12" /><Relationship Type="http://schemas.openxmlformats.org/officeDocument/2006/relationships/tableStyles" Target="tableStyles.xml" Id="rId13" 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463040"/>
            <a:ext cx="4206240" cy="4206240"/>
          </a:xfrm>
          <a:prstGeom prst="ellipse">
            <a:avLst/>
          </a:prstGeom>
          <a:solidFill>
            <a:srgbClr val="111B33"/>
          </a:solidFill>
          <a:ln w="12700">
            <a:solidFill>
              <a:srgbClr val="111B33"/>
            </a:solidFill>
            <a:prstDash val="solid"/>
          </a:ln>
        </p:spPr>
        <p:txBody>
          <a:bodyPr/>
          <a:lstStyle/>
          <a:p/>
        </p:txBody>
      </p:sp>
      <p:sp>
        <p:nvSpPr>
          <p:cNvPr id="3" name="Shape 1"/>
          <p:cNvSpPr/>
          <p:nvPr/>
        </p:nvSpPr>
        <p:spPr>
          <a:xfrm>
            <a:off x="10881360" y="4206240"/>
            <a:ext cx="2926080" cy="2926080"/>
          </a:xfrm>
          <a:prstGeom prst="ellipse">
            <a:avLst/>
          </a:prstGeom>
          <a:solidFill>
            <a:srgbClr val="111B33"/>
          </a:solidFill>
          <a:ln w="12700">
            <a:solidFill>
              <a:srgbClr val="111B33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Shape 2"/>
          <p:cNvSpPr/>
          <p:nvPr/>
        </p:nvSpPr>
        <p:spPr>
          <a:xfrm>
            <a:off x="9464040" y="960120"/>
            <a:ext cx="1737360" cy="1737360"/>
          </a:xfrm>
          <a:prstGeom prst="ellipse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  <p:txBody>
          <a:bodyPr/>
          <a:lstStyle/>
          <a:p/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33127" y="1429207"/>
            <a:ext cx="799186" cy="79918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5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PROJECT   •   REVIEW 2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1691640"/>
            <a:ext cx="8321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Normalization and Implementation of the School Transport Route and Student Pickup Database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41148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D7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Refining the schema to 3NF, enforcing business rules with constraints and triggers, and implementing the database in MySQL.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5989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A9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[G.Jagadeesh ------25WU0102090 ,AIML Rhinos]</a:t>
            </a:r>
          </a:p>
        </p:txBody>
      </p:sp>
      <p:sp>
        <p:nvSpPr>
          <p:cNvPr id="10" name="Text 7"/>
          <p:cNvSpPr txBox="1"/>
          <p:nvPr/>
        </p:nvSpPr>
        <p:spPr>
          <a:xfrm>
            <a:off x="731520" y="63093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9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/ Guide: DBMS Project Review 2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Progress &amp; Review 2 Scope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project stands after Review 1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Transport DBMS  ·  Review 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520440" cy="411480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9525">
            <a:solidFill>
              <a:srgbClr val="E3E5E9"/>
            </a:solidFill>
            <a:prstDash val="solid"/>
          </a:ln>
          <a:effectLst>
            <a:outerShdw blurRad="76200" dist="25400" dir="5400000">
              <a:srgbClr val="000000">
                <a:alpha val="12000"/>
              </a:srgbClr>
            </a:outerShdw>
          </a:effectLst>
        </p:spPr>
        <p:txBody>
          <a:bodyPr/>
          <a:lstStyle/>
          <a:p/>
        </p:txBody>
      </p:sp>
      <p:sp>
        <p:nvSpPr>
          <p:cNvPr id="6" name="Shape 4"/>
          <p:cNvSpPr/>
          <p:nvPr/>
        </p:nvSpPr>
        <p:spPr>
          <a:xfrm>
            <a:off x="822960" y="2011680"/>
            <a:ext cx="685800" cy="685800"/>
          </a:xfrm>
          <a:prstGeom prst="ellipse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  <p:txBody>
          <a:bodyPr/>
          <a:lstStyle/>
          <a:p/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8126" y="2196846"/>
            <a:ext cx="315468" cy="31546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20116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 ·  COMPLETED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1645920" y="22860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 &amp; Design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971800"/>
            <a:ext cx="29718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Problem, scope and objectives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 and requirements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design with 12 entities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relational schema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334256" y="1737360"/>
            <a:ext cx="3520440" cy="4114800"/>
          </a:xfrm>
          <a:prstGeom prst="roundRect">
            <a:avLst>
              <a:gd name="adj" fmla="val 2078"/>
            </a:avLst>
          </a:prstGeom>
          <a:solidFill>
            <a:srgbClr val="1B2A4A"/>
          </a:solidFill>
          <a:ln w="9525">
            <a:solidFill>
              <a:srgbClr val="1B2A4A"/>
            </a:solidFill>
            <a:prstDash val="solid"/>
          </a:ln>
          <a:effectLst>
            <a:outerShdw blurRad="76200" dist="25400" dir="5400000">
              <a:srgbClr val="000000">
                <a:alpha val="12000"/>
              </a:srgbClr>
            </a:outerShdw>
          </a:effectLst>
        </p:spPr>
        <p:txBody>
          <a:bodyPr/>
          <a:lstStyle/>
          <a:p/>
        </p:txBody>
      </p:sp>
      <p:sp>
        <p:nvSpPr>
          <p:cNvPr id="12" name="Shape 9"/>
          <p:cNvSpPr/>
          <p:nvPr/>
        </p:nvSpPr>
        <p:spPr>
          <a:xfrm>
            <a:off x="4608576" y="2011680"/>
            <a:ext cx="685800" cy="685800"/>
          </a:xfrm>
          <a:prstGeom prst="ellipse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  <p:txBody>
          <a:bodyPr/>
          <a:lstStyle/>
          <a:p/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3742" y="2196846"/>
            <a:ext cx="315468" cy="31546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431536" y="20116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  ·  THIS REVIEW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5431536" y="22860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Normalize &amp; Implement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4608576" y="2971800"/>
            <a:ext cx="29718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up to 3NF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refinements (13 tables)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tables and constraints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and analytical queries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8119872" y="1737360"/>
            <a:ext cx="3520440" cy="411480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9525">
            <a:solidFill>
              <a:srgbClr val="E3E5E9"/>
            </a:solidFill>
            <a:prstDash val="solid"/>
          </a:ln>
          <a:effectLst>
            <a:outerShdw blurRad="76200" dist="25400" dir="5400000">
              <a:srgbClr val="000000">
                <a:alpha val="12000"/>
              </a:srgbClr>
            </a:outerShdw>
          </a:effectLst>
        </p:spPr>
        <p:txBody>
          <a:bodyPr/>
          <a:lstStyle/>
          <a:p/>
        </p:txBody>
      </p:sp>
      <p:sp>
        <p:nvSpPr>
          <p:cNvPr id="18" name="Shape 14"/>
          <p:cNvSpPr/>
          <p:nvPr/>
        </p:nvSpPr>
        <p:spPr>
          <a:xfrm>
            <a:off x="8394192" y="2011680"/>
            <a:ext cx="685800" cy="685800"/>
          </a:xfrm>
          <a:prstGeom prst="ellipse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  <p:txBody>
          <a:bodyPr/>
          <a:lstStyle/>
          <a:p/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9358" y="2196846"/>
            <a:ext cx="315468" cy="315468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9217152" y="20116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3  ·  UPCOMING</a:t>
            </a:r>
            <a:endParaRPr lang="en-US" sz="1100" dirty="0"/>
          </a:p>
        </p:txBody>
      </p:sp>
      <p:sp>
        <p:nvSpPr>
          <p:cNvPr id="21" name="Text 16"/>
          <p:cNvSpPr txBox="1"/>
          <p:nvPr/>
        </p:nvSpPr>
        <p:spPr>
          <a:xfrm>
            <a:off x="9217152" y="22860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&amp; Testing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8394192" y="2971800"/>
            <a:ext cx="29718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front-end application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modules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and test cases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and future scope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Implementation: Table Creation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 in MySQL 8.0: keys, NOT NULL, UNIQUE and CHECK on every table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Transport DBMS  ·  Review 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7315200" cy="4663440"/>
          </a:xfrm>
          <a:prstGeom prst="roundRect">
            <a:avLst>
              <a:gd name="adj" fmla="val 1569"/>
            </a:avLst>
          </a:prstGeom>
          <a:solidFill>
            <a:srgbClr val="111B33"/>
          </a:solidFill>
          <a:ln w="12700">
            <a:solidFill>
              <a:srgbClr val="111B33"/>
            </a:solidFill>
            <a:prstDash val="solid"/>
          </a:ln>
        </p:spPr>
        <p:txBody>
          <a:bodyPr/>
          <a:lstStyle/>
          <a:p/>
        </p:txBody>
      </p:sp>
      <p:sp>
        <p:nvSpPr>
          <p:cNvPr id="6" name="Text 4"/>
          <p:cNvSpPr txBox="1"/>
          <p:nvPr/>
        </p:nvSpPr>
        <p:spPr>
          <a:xfrm>
            <a:off x="822960" y="173736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 ·  DDL EXCERPT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03120"/>
            <a:ext cx="67665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5B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</a:t>
            </a:r>
            <a:r>
              <a:rPr lang="en-US" sz="12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F5B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r>
              <a:rPr lang="en-US" sz="12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BUS (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Bus_ID </a:t>
            </a:r>
            <a:r>
              <a:rPr lang="en-US" sz="1200" dirty="0">
                <a:solidFill>
                  <a:srgbClr val="F5B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2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F5B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AUTO_INCREMENT</a:t>
            </a:r>
            <a:r>
              <a:rPr lang="en-US" sz="12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F5B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</a:t>
            </a:r>
            <a:r>
              <a:rPr lang="en-US" sz="12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F5B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r>
              <a:rPr lang="en-US" sz="12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Registration_Num </a:t>
            </a:r>
            <a:r>
              <a:rPr lang="en-US" sz="1200" dirty="0">
                <a:solidFill>
                  <a:srgbClr val="F5B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</a:t>
            </a:r>
            <a:r>
              <a:rPr lang="en-US" sz="12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(20) </a:t>
            </a:r>
            <a:r>
              <a:rPr lang="en-US" sz="1200" dirty="0">
                <a:solidFill>
                  <a:srgbClr val="F5B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r>
              <a:rPr lang="en-US" sz="12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F5B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r>
              <a:rPr lang="en-US" sz="12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F5B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UNIQUE</a:t>
            </a:r>
            <a:r>
              <a:rPr lang="en-US" sz="12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Capacity </a:t>
            </a:r>
            <a:r>
              <a:rPr lang="en-US" sz="1200" dirty="0">
                <a:solidFill>
                  <a:srgbClr val="F5B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2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F5B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r>
              <a:rPr lang="en-US" sz="12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F5B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r>
              <a:rPr lang="en-US" sz="12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F5B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</a:t>
            </a:r>
            <a:r>
              <a:rPr lang="en-US" sz="12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(Capacity &gt; 0),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Model </a:t>
            </a:r>
            <a:r>
              <a:rPr lang="en-US" sz="1200" dirty="0">
                <a:solidFill>
                  <a:srgbClr val="F5B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</a:t>
            </a:r>
            <a:r>
              <a:rPr lang="en-US" sz="12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(50),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Status </a:t>
            </a:r>
            <a:r>
              <a:rPr lang="en-US" sz="1200" dirty="0">
                <a:solidFill>
                  <a:srgbClr val="F5B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</a:t>
            </a:r>
            <a:r>
              <a:rPr lang="en-US" sz="12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(15) </a:t>
            </a:r>
            <a:r>
              <a:rPr lang="en-US" sz="1200" dirty="0">
                <a:solidFill>
                  <a:srgbClr val="F5B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r>
              <a:rPr lang="en-US" sz="12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F5B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r>
              <a:rPr lang="en-US" sz="12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F5B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r>
              <a:rPr lang="en-US" sz="12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'ACTIVE'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5B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</a:t>
            </a:r>
            <a:r>
              <a:rPr lang="en-US" sz="12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F5B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r>
              <a:rPr lang="en-US" sz="12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TRANSPORT_REGISTRATION (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Registration_ID </a:t>
            </a:r>
            <a:r>
              <a:rPr lang="en-US" sz="1200" dirty="0">
                <a:solidFill>
                  <a:srgbClr val="F5B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2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F5B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AUTO_INCREMENT</a:t>
            </a:r>
            <a:r>
              <a:rPr lang="en-US" sz="12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F5B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</a:t>
            </a:r>
            <a:r>
              <a:rPr lang="en-US" sz="12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F5B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r>
              <a:rPr lang="en-US" sz="12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Student_ID </a:t>
            </a:r>
            <a:r>
              <a:rPr lang="en-US" sz="1200" dirty="0">
                <a:solidFill>
                  <a:srgbClr val="F5B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2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F5B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r>
              <a:rPr lang="en-US" sz="12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F5B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r>
              <a:rPr lang="en-US" sz="12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Route_ID </a:t>
            </a:r>
            <a:r>
              <a:rPr lang="en-US" sz="1200" dirty="0">
                <a:solidFill>
                  <a:srgbClr val="F5B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2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F5B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r>
              <a:rPr lang="en-US" sz="12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F5B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r>
              <a:rPr lang="en-US" sz="12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Stop_ID </a:t>
            </a:r>
            <a:r>
              <a:rPr lang="en-US" sz="1200" dirty="0">
                <a:solidFill>
                  <a:srgbClr val="F5B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2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F5B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r>
              <a:rPr lang="en-US" sz="12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F5B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r>
              <a:rPr lang="en-US" sz="12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Status </a:t>
            </a:r>
            <a:r>
              <a:rPr lang="en-US" sz="1200" dirty="0">
                <a:solidFill>
                  <a:srgbClr val="F5B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</a:t>
            </a:r>
            <a:r>
              <a:rPr lang="en-US" sz="12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(10) </a:t>
            </a:r>
            <a:r>
              <a:rPr lang="en-US" sz="1200" dirty="0">
                <a:solidFill>
                  <a:srgbClr val="F5B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r>
              <a:rPr lang="en-US" sz="12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F5B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r>
              <a:rPr lang="en-US" sz="12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F5B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r>
              <a:rPr lang="en-US" sz="12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'ACTIVE'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dirty="0">
                <a:solidFill>
                  <a:srgbClr val="F5B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</a:t>
            </a:r>
            <a:r>
              <a:rPr lang="en-US" sz="12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(Status </a:t>
            </a:r>
            <a:r>
              <a:rPr lang="en-US" sz="1200" dirty="0">
                <a:solidFill>
                  <a:srgbClr val="F5B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12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('ACTIVE','INACTIVE')),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Start_Date </a:t>
            </a:r>
            <a:r>
              <a:rPr lang="en-US" sz="1200" dirty="0">
                <a:solidFill>
                  <a:srgbClr val="F5B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</a:t>
            </a:r>
            <a:r>
              <a:rPr lang="en-US" sz="12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F5B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r>
              <a:rPr lang="en-US" sz="12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F5B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r>
              <a:rPr lang="en-US" sz="12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dirty="0">
                <a:solidFill>
                  <a:srgbClr val="F5B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FOREIGN</a:t>
            </a:r>
            <a:r>
              <a:rPr lang="en-US" sz="12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F5B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r>
              <a:rPr lang="en-US" sz="12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(Student_ID) </a:t>
            </a:r>
            <a:r>
              <a:rPr lang="en-US" sz="1200" dirty="0">
                <a:solidFill>
                  <a:srgbClr val="F5B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REFERENCES</a:t>
            </a:r>
            <a:r>
              <a:rPr lang="en-US" sz="12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STUDENT(Student_ID),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dirty="0">
                <a:solidFill>
                  <a:srgbClr val="F5B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FOREIGN</a:t>
            </a:r>
            <a:r>
              <a:rPr lang="en-US" sz="12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F5B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r>
              <a:rPr lang="en-US" sz="12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(Route_ID, Stop_ID)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dirty="0">
                <a:solidFill>
                  <a:srgbClr val="F5B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REFERENCES</a:t>
            </a:r>
            <a:r>
              <a:rPr lang="en-US" sz="12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ROUTE_SEQUENCE(Route_ID, Stop_ID)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165592" y="1554480"/>
            <a:ext cx="3474720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9525">
            <a:solidFill>
              <a:srgbClr val="E3E5E9"/>
            </a:solidFill>
            <a:prstDash val="solid"/>
          </a:ln>
          <a:effectLst>
            <a:outerShdw blurRad="76200" dist="25400" dir="5400000">
              <a:srgbClr val="000000">
                <a:alpha val="12000"/>
              </a:srgbClr>
            </a:outerShdw>
          </a:effectLst>
        </p:spPr>
        <p:txBody>
          <a:bodyPr/>
          <a:lstStyle/>
          <a:p/>
        </p:txBody>
      </p:sp>
      <p:sp>
        <p:nvSpPr>
          <p:cNvPr id="9" name="Text 7"/>
          <p:cNvSpPr txBox="1"/>
          <p:nvPr/>
        </p:nvSpPr>
        <p:spPr>
          <a:xfrm>
            <a:off x="8394192" y="171907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 tables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8394192" y="21031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in dependency order, parent tables first, so every foreign key resolves.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65592" y="3145536"/>
            <a:ext cx="3474720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9525">
            <a:solidFill>
              <a:srgbClr val="E3E5E9"/>
            </a:solidFill>
            <a:prstDash val="solid"/>
          </a:ln>
          <a:effectLst>
            <a:outerShdw blurRad="76200" dist="25400" dir="5400000">
              <a:srgbClr val="000000">
                <a:alpha val="12000"/>
              </a:srgbClr>
            </a:outerShdw>
          </a:effectLst>
        </p:spPr>
        <p:txBody>
          <a:bodyPr/>
          <a:lstStyle/>
          <a:p/>
        </p:txBody>
      </p:sp>
      <p:sp>
        <p:nvSpPr>
          <p:cNvPr id="12" name="Text 10"/>
          <p:cNvSpPr txBox="1"/>
          <p:nvPr/>
        </p:nvSpPr>
        <p:spPr>
          <a:xfrm>
            <a:off x="8394192" y="331012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Declarative integrity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8394192" y="3694176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KEY, FOREIGN KEY, UNIQUE, NOT NULL and CHECK are declared in the table definitions.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65592" y="4736592"/>
            <a:ext cx="3474720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9525">
            <a:solidFill>
              <a:srgbClr val="E3E5E9"/>
            </a:solidFill>
            <a:prstDash val="solid"/>
          </a:ln>
          <a:effectLst>
            <a:outerShdw blurRad="76200" dist="25400" dir="5400000">
              <a:srgbClr val="000000">
                <a:alpha val="12000"/>
              </a:srgbClr>
            </a:outerShdw>
          </a:effectLst>
        </p:spPr>
        <p:txBody>
          <a:bodyPr/>
          <a:lstStyle/>
          <a:p/>
        </p:txBody>
      </p:sp>
      <p:sp>
        <p:nvSpPr>
          <p:cNvPr id="15" name="Text 13"/>
          <p:cNvSpPr txBox="1"/>
          <p:nvPr/>
        </p:nvSpPr>
        <p:spPr>
          <a:xfrm>
            <a:off x="8394192" y="490118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Portable design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8394192" y="5285232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port: replace AUTO_INCREMENT with GENERATED ALWAYS AS IDENTITY.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Rules → Database Enforcement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each rule from Review 1 is enforced inside the database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Transport DBMS  ·  Review 2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4279392"/>
        </p:xfrm>
        <a:graphic>
          <a:graphicData uri="http://schemas.openxmlformats.org/drawingml/2006/table">
            <a:tbl>
              <a:tblPr/>
              <a:tblGrid>
                <a:gridCol w="2651760"/>
                <a:gridCol w="6035040"/>
                <a:gridCol w="2404872"/>
              </a:tblGrid>
              <a:tr h="713232">
                <a:tc>
                  <a:txBody>
                    <a:bodyPr anchor="t"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Rule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anchor="t"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Enforcement Mechanism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anchor="t"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A4A"/>
                    </a:solidFill>
                  </a:tcPr>
                </a:tc>
              </a:tr>
              <a:tr h="713232">
                <a:tc>
                  <a:txBody>
                    <a:bodyPr anchor="t"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 capacity limit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(Capacity &gt; 0), plus a BEFORE INSERT trigger that blocks registrations beyond the assigned bus capacity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BUS, TRANSPORT_REGISTRATION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anchor="t"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active assignment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 rejects a second ACTIVE assignment for the same bus, driver or attendant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BUS_ASSIGNMENT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anchor="t"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 driver license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and NOT NULL license number; trigger rejects drivers whose License_Expiry has passed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DRIVER, BUS_ASSIGNMENT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anchor="t"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pickup log per day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(Registration_ID, Date) with a CHECK on the pickup status values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PICKUP_LOG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anchor="t"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 must belong to route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Composite FOREIGN KEY (Route_ID, Stop_ID) to ROUTE_SEQUENCE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TRANSPORT_REGISTRATION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Analytical Queries &amp; Next Steps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reporting queries running on the implemented schema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Transport DBMS  ·  Review 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6949440" cy="4663440"/>
          </a:xfrm>
          <a:prstGeom prst="roundRect">
            <a:avLst>
              <a:gd name="adj" fmla="val 1569"/>
            </a:avLst>
          </a:prstGeom>
          <a:solidFill>
            <a:srgbClr val="111B33"/>
          </a:solidFill>
          <a:ln w="12700">
            <a:solidFill>
              <a:srgbClr val="111B33"/>
            </a:solidFill>
            <a:prstDash val="solid"/>
          </a:ln>
        </p:spPr>
        <p:txBody>
          <a:bodyPr/>
          <a:lstStyle/>
          <a:p/>
        </p:txBody>
      </p:sp>
      <p:sp>
        <p:nvSpPr>
          <p:cNvPr id="6" name="Text 4"/>
          <p:cNvSpPr txBox="1"/>
          <p:nvPr/>
        </p:nvSpPr>
        <p:spPr>
          <a:xfrm>
            <a:off x="822960" y="17373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 ·  REPORT QUERIES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03120"/>
            <a:ext cx="64008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Capacity utilization per route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5B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2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r.Route_Name, b.Capacity,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r>
              <a:rPr lang="en-US" sz="1200" dirty="0">
                <a:solidFill>
                  <a:srgbClr val="F5B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r>
              <a:rPr lang="en-US" sz="12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(tr.Registration_ID) </a:t>
            </a:r>
            <a:r>
              <a:rPr lang="en-US" sz="1200" dirty="0">
                <a:solidFill>
                  <a:srgbClr val="F5B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2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Enrolled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5B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2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BUS_ASSIGNMENT ba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5B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r>
              <a:rPr lang="en-US" sz="12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BUS b </a:t>
            </a:r>
            <a:r>
              <a:rPr lang="en-US" sz="1200" dirty="0">
                <a:solidFill>
                  <a:srgbClr val="F5B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r>
              <a:rPr lang="en-US" sz="12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b.Bus_ID = ba.Bus_ID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5B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r>
              <a:rPr lang="en-US" sz="12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ROUTE r </a:t>
            </a:r>
            <a:r>
              <a:rPr lang="en-US" sz="1200" dirty="0">
                <a:solidFill>
                  <a:srgbClr val="F5B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r>
              <a:rPr lang="en-US" sz="12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r.Route_ID = ba.Route_ID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5B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</a:t>
            </a:r>
            <a:r>
              <a:rPr lang="en-US" sz="12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F5B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r>
              <a:rPr lang="en-US" sz="12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TRANSPORT_REGISTRATION tr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dirty="0">
                <a:solidFill>
                  <a:srgbClr val="F5B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r>
              <a:rPr lang="en-US" sz="12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tr.Route_ID = r.Route_ID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F5B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r>
              <a:rPr lang="en-US" sz="12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tr.Status = 'ACTIVE'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5B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r>
              <a:rPr lang="en-US" sz="12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ba.Status = 'ACTIVE'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5B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</a:t>
            </a:r>
            <a:r>
              <a:rPr lang="en-US" sz="12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F5B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</a:t>
            </a:r>
            <a:r>
              <a:rPr lang="en-US" sz="12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r.Route_Name, b.Capacity;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Absent students today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5B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2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s.Name, r.Route_Name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5B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2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PICKUP_LOG p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5B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r>
              <a:rPr lang="en-US" sz="12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TRANSPORT_REGISTRATION tr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dirty="0">
                <a:solidFill>
                  <a:srgbClr val="F5B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r>
              <a:rPr lang="en-US" sz="12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tr.Registration_ID = p.Registration_ID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5B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r>
              <a:rPr lang="en-US" sz="12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STUDENT s </a:t>
            </a:r>
            <a:r>
              <a:rPr lang="en-US" sz="1200" dirty="0">
                <a:solidFill>
                  <a:srgbClr val="F5B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r>
              <a:rPr lang="en-US" sz="12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s.Student_ID = tr.Student_ID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5B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r>
              <a:rPr lang="en-US" sz="12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ROUTE r </a:t>
            </a:r>
            <a:r>
              <a:rPr lang="en-US" sz="1200" dirty="0">
                <a:solidFill>
                  <a:srgbClr val="F5B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r>
              <a:rPr lang="en-US" sz="12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r.Route_ID = tr.Route_ID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5B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r>
              <a:rPr lang="en-US" sz="12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p.Status = 'ABSENT'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dirty="0">
                <a:solidFill>
                  <a:srgbClr val="F5B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r>
              <a:rPr lang="en-US" sz="1200" dirty="0">
                <a:solidFill>
                  <a:srgbClr val="D7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p.Date = CURDATE();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772400" y="1554480"/>
            <a:ext cx="3867912" cy="4663440"/>
          </a:xfrm>
          <a:prstGeom prst="roundRect">
            <a:avLst>
              <a:gd name="adj" fmla="val 1891"/>
            </a:avLst>
          </a:prstGeom>
          <a:solidFill>
            <a:srgbClr val="1B2A4A"/>
          </a:solidFill>
          <a:ln w="9525">
            <a:solidFill>
              <a:srgbClr val="1B2A4A"/>
            </a:solidFill>
            <a:prstDash val="solid"/>
          </a:ln>
          <a:effectLst>
            <a:outerShdw blurRad="76200" dist="25400" dir="5400000">
              <a:srgbClr val="000000">
                <a:alpha val="12000"/>
              </a:srgbClr>
            </a:outerShdw>
          </a:effectLst>
        </p:spPr>
        <p:txBody>
          <a:bodyPr/>
          <a:lstStyle/>
          <a:p/>
        </p:txBody>
      </p:sp>
      <p:sp>
        <p:nvSpPr>
          <p:cNvPr id="9" name="Text 7"/>
          <p:cNvSpPr txBox="1"/>
          <p:nvPr/>
        </p:nvSpPr>
        <p:spPr>
          <a:xfrm>
            <a:off x="8046720" y="17830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 ·  REVIEW 3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046720" y="2286000"/>
            <a:ext cx="33832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front-end connected to MySQL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modules for admin, driver and parent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Reports: utilization, unpaid fees, assignments, absences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 for all business rules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thm15="http://schemas.microsoft.com/office/thememl/2012/main"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title>School Transport DBMS - Review 2</dc:title>
  <dc:subject>PptxGenJS Presentation</dc:subject>
  <dc:creator>PptxGenJS</dc:creator>
  <lastModifiedBy>PptxGenJS</lastModifiedBy>
  <revision>1</revision>
  <dcterms:created xsi:type="dcterms:W3CDTF">2026-10-06T13:34:05.0000000Z</dcterms:created>
  <dcterms:modified xsi:type="dcterms:W3CDTF">2026-10-12T05:34:59.3827019Z</dcterms:modified>
</coreProperties>
</file>