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slideMasters/slideMaster1.xml" Id="rId1" /><Relationship Type="http://schemas.openxmlformats.org/officeDocument/2006/relationships/slide" Target="slides/slide1.xml" Id="rId2" /><Relationship Type="http://schemas.openxmlformats.org/officeDocument/2006/relationships/slide" Target="slides/slide2.xml" Id="rId3" /><Relationship Type="http://schemas.openxmlformats.org/officeDocument/2006/relationships/slide" Target="slides/slide3.xml" Id="rId4" /><Relationship Type="http://schemas.openxmlformats.org/officeDocument/2006/relationships/slide" Target="slides/slide4.xml" Id="rId5" /><Relationship Type="http://schemas.openxmlformats.org/officeDocument/2006/relationships/slide" Target="slides/slide7.xml" Id="rId8" /><Relationship Type="http://schemas.openxmlformats.org/officeDocument/2006/relationships/notesMaster" Target="notesMasters/notesMaster1.xml" Id="rId9" /><Relationship Type="http://schemas.openxmlformats.org/officeDocument/2006/relationships/presProps" Target="presProps.xml" Id="rId10" /><Relationship Type="http://schemas.openxmlformats.org/officeDocument/2006/relationships/viewProps" Target="viewProps.xml" Id="rId11" /><Relationship Type="http://schemas.openxmlformats.org/officeDocument/2006/relationships/theme" Target="theme/theme1.xml" Id="rId12" /><Relationship Type="http://schemas.openxmlformats.org/officeDocument/2006/relationships/tableStyles" Target="tableStyles.xml" Id="rId13" 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4206240" cy="4206240"/>
          </a:xfrm>
          <a:prstGeom prst="ellipse">
            <a:avLst/>
          </a:prstGeom>
          <a:solidFill>
            <a:srgbClr val="111B33"/>
          </a:solidFill>
          <a:ln w="12700">
            <a:solidFill>
              <a:srgbClr val="111B33"/>
            </a:solidFill>
            <a:prstDash val="solid"/>
          </a:ln>
        </p:spPr>
        <p:txBody>
          <a:bodyPr/>
          <a:lstStyle/>
          <a:p/>
        </p:txBody>
      </p:sp>
      <p:sp>
        <p:nvSpPr>
          <p:cNvPr id="3" name="Shape 1"/>
          <p:cNvSpPr/>
          <p:nvPr/>
        </p:nvSpPr>
        <p:spPr>
          <a:xfrm>
            <a:off x="10881360" y="4206240"/>
            <a:ext cx="2926080" cy="2926080"/>
          </a:xfrm>
          <a:prstGeom prst="ellipse">
            <a:avLst/>
          </a:prstGeom>
          <a:solidFill>
            <a:srgbClr val="111B33"/>
          </a:solidFill>
          <a:ln w="12700">
            <a:solidFill>
              <a:srgbClr val="111B33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Shape 2"/>
          <p:cNvSpPr/>
          <p:nvPr/>
        </p:nvSpPr>
        <p:spPr>
          <a:xfrm>
            <a:off x="9464040" y="960120"/>
            <a:ext cx="1737360" cy="1737360"/>
          </a:xfrm>
          <a:prstGeom prst="ellipse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  <p:txBody>
          <a:bodyPr/>
          <a:lstStyle/>
          <a:p/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33127" y="1429207"/>
            <a:ext cx="799186" cy="79918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PROJECT   •   REVIEW 3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1691640"/>
            <a:ext cx="8321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Development, Reporting and Testing of the School Transport Management System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41148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D7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Python front-end on top of the MySQL database, with role-based modules, automated reports and constraint testing.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5989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9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[G.Jagadeesh ----- 25WUO102090 , AIML Rhinos]</a:t>
            </a:r>
          </a:p>
        </p:txBody>
      </p:sp>
      <p:sp>
        <p:nvSpPr>
          <p:cNvPr id="10" name="Text 7"/>
          <p:cNvSpPr txBox="1"/>
          <p:nvPr/>
        </p:nvSpPr>
        <p:spPr>
          <a:xfrm>
            <a:off x="731520" y="63093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9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/ Guide: DBMS Project Review 3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layers: interface, application logic and database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Transport DBMS  ·  Review 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10896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9525">
            <a:solidFill>
              <a:srgbClr val="E3E5E9"/>
            </a:solidFill>
            <a:prstDash val="solid"/>
          </a:ln>
          <a:effectLst>
            <a:outerShdw blurRad="76200" dist="25400" dir="5400000">
              <a:srgbClr val="000000">
                <a:alpha val="12000"/>
              </a:srgbClr>
            </a:outerShdw>
          </a:effectLst>
        </p:spPr>
        <p:txBody>
          <a:bodyPr/>
          <a:lstStyle/>
          <a:p/>
        </p:txBody>
      </p:sp>
      <p:sp>
        <p:nvSpPr>
          <p:cNvPr id="6" name="Shape 4"/>
          <p:cNvSpPr/>
          <p:nvPr/>
        </p:nvSpPr>
        <p:spPr>
          <a:xfrm>
            <a:off x="822960" y="1920240"/>
            <a:ext cx="731520" cy="731520"/>
          </a:xfrm>
          <a:prstGeom prst="ellipse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  <p:txBody>
          <a:bodyPr/>
          <a:lstStyle/>
          <a:p/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470" y="2117750"/>
            <a:ext cx="336499" cy="336499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2960" y="28346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Layer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29184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web interface with separate screens for admin, driver and parent roles.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39996" y="1691640"/>
            <a:ext cx="310896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9525">
            <a:solidFill>
              <a:srgbClr val="E3E5E9"/>
            </a:solidFill>
            <a:prstDash val="solid"/>
          </a:ln>
          <a:effectLst>
            <a:outerShdw blurRad="76200" dist="25400" dir="5400000">
              <a:srgbClr val="000000">
                <a:alpha val="12000"/>
              </a:srgbClr>
            </a:outerShdw>
          </a:effectLst>
        </p:spPr>
        <p:txBody>
          <a:bodyPr/>
          <a:lstStyle/>
          <a:p/>
        </p:txBody>
      </p:sp>
      <p:sp>
        <p:nvSpPr>
          <p:cNvPr id="11" name="Shape 8"/>
          <p:cNvSpPr/>
          <p:nvPr/>
        </p:nvSpPr>
        <p:spPr>
          <a:xfrm>
            <a:off x="4814316" y="1920240"/>
            <a:ext cx="731520" cy="731520"/>
          </a:xfrm>
          <a:prstGeom prst="ellipse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  <p:txBody>
          <a:bodyPr/>
          <a:lstStyle/>
          <a:p/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1826" y="2117750"/>
            <a:ext cx="336499" cy="336499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814316" y="28346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Layer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4814316" y="329184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business logic validates input and sends parameterized SQL through the MySQL connector.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8531352" y="1691640"/>
            <a:ext cx="310896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9525">
            <a:solidFill>
              <a:srgbClr val="E3E5E9"/>
            </a:solidFill>
            <a:prstDash val="solid"/>
          </a:ln>
          <a:effectLst>
            <a:outerShdw blurRad="76200" dist="25400" dir="5400000">
              <a:srgbClr val="000000">
                <a:alpha val="12000"/>
              </a:srgbClr>
            </a:outerShdw>
          </a:effectLst>
        </p:spPr>
        <p:txBody>
          <a:bodyPr/>
          <a:lstStyle/>
          <a:p/>
        </p:txBody>
      </p:sp>
      <p:sp>
        <p:nvSpPr>
          <p:cNvPr id="16" name="Shape 12"/>
          <p:cNvSpPr/>
          <p:nvPr/>
        </p:nvSpPr>
        <p:spPr>
          <a:xfrm>
            <a:off x="8805672" y="1920240"/>
            <a:ext cx="731520" cy="731520"/>
          </a:xfrm>
          <a:prstGeom prst="ellipse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  <p:txBody>
          <a:bodyPr/>
          <a:lstStyle/>
          <a:p/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3182" y="2117750"/>
            <a:ext cx="336499" cy="336499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805672" y="28346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Layer</a:t>
            </a:r>
            <a:endParaRPr lang="en-US" sz="1900" dirty="0"/>
          </a:p>
        </p:txBody>
      </p:sp>
      <p:sp>
        <p:nvSpPr>
          <p:cNvPr id="19" name="Text 14"/>
          <p:cNvSpPr txBox="1"/>
          <p:nvPr/>
        </p:nvSpPr>
        <p:spPr>
          <a:xfrm>
            <a:off x="8805672" y="329184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 with 13 normalized tables, constraints and triggers that enforce the rules.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3703320" y="3108960"/>
            <a:ext cx="822960" cy="0"/>
          </a:xfrm>
          <a:prstGeom prst="line">
            <a:avLst/>
          </a:prstGeom>
          <a:noFill/>
          <a:ln w="38100">
            <a:solidFill>
              <a:srgbClr val="F5B700"/>
            </a:solidFill>
            <a:prstDash val="solid"/>
            <a:tailEnd type="triangle"/>
          </a:ln>
        </p:spPr>
        <p:txBody>
          <a:bodyPr/>
          <a:lstStyle/>
          <a:p/>
        </p:txBody>
      </p:sp>
      <p:sp>
        <p:nvSpPr>
          <p:cNvPr id="21" name="Shape 16"/>
          <p:cNvSpPr/>
          <p:nvPr/>
        </p:nvSpPr>
        <p:spPr>
          <a:xfrm>
            <a:off x="7694676" y="3108960"/>
            <a:ext cx="822960" cy="0"/>
          </a:xfrm>
          <a:prstGeom prst="line">
            <a:avLst/>
          </a:prstGeom>
          <a:noFill/>
          <a:ln w="38100">
            <a:solidFill>
              <a:srgbClr val="F5B700"/>
            </a:solidFill>
            <a:prstDash val="solid"/>
            <a:tailEnd type="triangle"/>
          </a:ln>
        </p:spPr>
        <p:txBody>
          <a:bodyPr/>
          <a:lstStyle/>
          <a:p/>
        </p:txBody>
      </p:sp>
      <p:sp>
        <p:nvSpPr>
          <p:cNvPr id="22" name="Shape 17"/>
          <p:cNvSpPr/>
          <p:nvPr/>
        </p:nvSpPr>
        <p:spPr>
          <a:xfrm>
            <a:off x="548640" y="4846320"/>
            <a:ext cx="11091672" cy="1234440"/>
          </a:xfrm>
          <a:prstGeom prst="roundRect">
            <a:avLst>
              <a:gd name="adj" fmla="val 5926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/>
        </p:txBody>
      </p:sp>
      <p:sp>
        <p:nvSpPr>
          <p:cNvPr id="23" name="Text 18"/>
          <p:cNvSpPr txBox="1"/>
          <p:nvPr/>
        </p:nvSpPr>
        <p:spPr>
          <a:xfrm>
            <a:off x="822960" y="5029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</a:t>
            </a:r>
            <a:endParaRPr lang="en-US" sz="1100" dirty="0"/>
          </a:p>
        </p:txBody>
      </p:sp>
      <p:sp>
        <p:nvSpPr>
          <p:cNvPr id="24" name="Text 19"/>
          <p:cNvSpPr txBox="1"/>
          <p:nvPr/>
        </p:nvSpPr>
        <p:spPr>
          <a:xfrm>
            <a:off x="822960" y="53492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action  →  validated in Python  →  parameterized SQL  →  constraints and triggers enforce the rules  →  result shown in the interface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Role-Based Modules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user role sees only the screens it needs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Transport DBMS  ·  Review 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9525">
            <a:solidFill>
              <a:srgbClr val="E3E5E9"/>
            </a:solidFill>
            <a:prstDash val="solid"/>
          </a:ln>
          <a:effectLst>
            <a:outerShdw blurRad="76200" dist="25400" dir="5400000">
              <a:srgbClr val="000000">
                <a:alpha val="12000"/>
              </a:srgbClr>
            </a:outerShdw>
          </a:effectLst>
        </p:spPr>
        <p:txBody>
          <a:bodyPr/>
          <a:lstStyle/>
          <a:p/>
        </p:txBody>
      </p:sp>
      <p:sp>
        <p:nvSpPr>
          <p:cNvPr id="6" name="Shape 4"/>
          <p:cNvSpPr/>
          <p:nvPr/>
        </p:nvSpPr>
        <p:spPr>
          <a:xfrm>
            <a:off x="822960" y="2011680"/>
            <a:ext cx="685800" cy="685800"/>
          </a:xfrm>
          <a:prstGeom prst="ellipse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  <p:txBody>
          <a:bodyPr/>
          <a:lstStyle/>
          <a:p/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8126" y="2196846"/>
            <a:ext cx="315468" cy="31546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20116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ADMIN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1645920" y="22860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 Module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971800"/>
            <a:ext cx="29718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routes, stops and stop order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buses, drivers and attendants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fee plans and service logs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334256" y="1737360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9525">
            <a:solidFill>
              <a:srgbClr val="E3E5E9"/>
            </a:solidFill>
            <a:prstDash val="solid"/>
          </a:ln>
          <a:effectLst>
            <a:outerShdw blurRad="76200" dist="25400" dir="5400000">
              <a:srgbClr val="000000">
                <a:alpha val="12000"/>
              </a:srgbClr>
            </a:outerShdw>
          </a:effectLst>
        </p:spPr>
        <p:txBody>
          <a:bodyPr/>
          <a:lstStyle/>
          <a:p/>
        </p:txBody>
      </p:sp>
      <p:sp>
        <p:nvSpPr>
          <p:cNvPr id="12" name="Shape 9"/>
          <p:cNvSpPr/>
          <p:nvPr/>
        </p:nvSpPr>
        <p:spPr>
          <a:xfrm>
            <a:off x="4608576" y="2011680"/>
            <a:ext cx="685800" cy="685800"/>
          </a:xfrm>
          <a:prstGeom prst="ellipse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  <p:txBody>
          <a:bodyPr/>
          <a:lstStyle/>
          <a:p/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3742" y="2196846"/>
            <a:ext cx="315468" cy="31546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431536" y="20116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/ ATTENDANT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5431536" y="22860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Pickup Module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4608576" y="2971800"/>
            <a:ext cx="29718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assigned route and stop list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each student picked up, late or absent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daily attendance summary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8119872" y="1737360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9525">
            <a:solidFill>
              <a:srgbClr val="E3E5E9"/>
            </a:solidFill>
            <a:prstDash val="solid"/>
          </a:ln>
          <a:effectLst>
            <a:outerShdw blurRad="76200" dist="25400" dir="5400000">
              <a:srgbClr val="000000">
                <a:alpha val="12000"/>
              </a:srgbClr>
            </a:outerShdw>
          </a:effectLst>
        </p:spPr>
        <p:txBody>
          <a:bodyPr/>
          <a:lstStyle/>
          <a:p/>
        </p:txBody>
      </p:sp>
      <p:sp>
        <p:nvSpPr>
          <p:cNvPr id="18" name="Shape 14"/>
          <p:cNvSpPr/>
          <p:nvPr/>
        </p:nvSpPr>
        <p:spPr>
          <a:xfrm>
            <a:off x="8394192" y="2011680"/>
            <a:ext cx="685800" cy="685800"/>
          </a:xfrm>
          <a:prstGeom prst="ellipse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  <p:txBody>
          <a:bodyPr/>
          <a:lstStyle/>
          <a:p/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9358" y="2196846"/>
            <a:ext cx="315468" cy="31546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9217152" y="20116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/ STUDENT</a:t>
            </a:r>
            <a:endParaRPr lang="en-US" sz="1100" dirty="0"/>
          </a:p>
        </p:txBody>
      </p:sp>
      <p:sp>
        <p:nvSpPr>
          <p:cNvPr id="21" name="Text 16"/>
          <p:cNvSpPr txBox="1"/>
          <p:nvPr/>
        </p:nvSpPr>
        <p:spPr>
          <a:xfrm>
            <a:off x="9217152" y="22860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Information Module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8394192" y="2971800"/>
            <a:ext cx="29718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route, stop and pickup time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fee dues and payment history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access to own records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Workflows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core operations and how the database supports each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Transport DBMS  ·  Review 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9525">
            <a:solidFill>
              <a:srgbClr val="E3E5E9"/>
            </a:solidFill>
            <a:prstDash val="solid"/>
          </a:ln>
          <a:effectLst>
            <a:outerShdw blurRad="76200" dist="25400" dir="5400000">
              <a:srgbClr val="000000">
                <a:alpha val="12000"/>
              </a:srgbClr>
            </a:outerShdw>
          </a:effectLst>
        </p:spPr>
        <p:txBody>
          <a:bodyPr/>
          <a:lstStyle/>
          <a:p/>
        </p:txBody>
      </p:sp>
      <p:sp>
        <p:nvSpPr>
          <p:cNvPr id="6" name="Shape 4"/>
          <p:cNvSpPr/>
          <p:nvPr/>
        </p:nvSpPr>
        <p:spPr>
          <a:xfrm>
            <a:off x="822960" y="2011680"/>
            <a:ext cx="685800" cy="685800"/>
          </a:xfrm>
          <a:prstGeom prst="ellipse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  <p:txBody>
          <a:bodyPr/>
          <a:lstStyle/>
          <a:p/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8126" y="2196846"/>
            <a:ext cx="315468" cy="31546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20116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1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1645920" y="22860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Register a Student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971800"/>
            <a:ext cx="29718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student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route and stop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trigger checks seats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is saved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334256" y="1737360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9525">
            <a:solidFill>
              <a:srgbClr val="E3E5E9"/>
            </a:solidFill>
            <a:prstDash val="solid"/>
          </a:ln>
          <a:effectLst>
            <a:outerShdw blurRad="76200" dist="25400" dir="5400000">
              <a:srgbClr val="000000">
                <a:alpha val="12000"/>
              </a:srgbClr>
            </a:outerShdw>
          </a:effectLst>
        </p:spPr>
        <p:txBody>
          <a:bodyPr/>
          <a:lstStyle/>
          <a:p/>
        </p:txBody>
      </p:sp>
      <p:sp>
        <p:nvSpPr>
          <p:cNvPr id="12" name="Shape 9"/>
          <p:cNvSpPr/>
          <p:nvPr/>
        </p:nvSpPr>
        <p:spPr>
          <a:xfrm>
            <a:off x="4608576" y="2011680"/>
            <a:ext cx="685800" cy="685800"/>
          </a:xfrm>
          <a:prstGeom prst="ellipse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  <p:txBody>
          <a:bodyPr/>
          <a:lstStyle/>
          <a:p/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3742" y="2196846"/>
            <a:ext cx="315468" cy="31546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431536" y="20116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2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5431536" y="22860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 Daily Pickup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4608576" y="2971800"/>
            <a:ext cx="29718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opens the assigned route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each student status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key allows one log per day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Absences feed the report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8119872" y="1737360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9525">
            <a:solidFill>
              <a:srgbClr val="E3E5E9"/>
            </a:solidFill>
            <a:prstDash val="solid"/>
          </a:ln>
          <a:effectLst>
            <a:outerShdw blurRad="76200" dist="25400" dir="5400000">
              <a:srgbClr val="000000">
                <a:alpha val="12000"/>
              </a:srgbClr>
            </a:outerShdw>
          </a:effectLst>
        </p:spPr>
        <p:txBody>
          <a:bodyPr/>
          <a:lstStyle/>
          <a:p/>
        </p:txBody>
      </p:sp>
      <p:sp>
        <p:nvSpPr>
          <p:cNvPr id="18" name="Shape 14"/>
          <p:cNvSpPr/>
          <p:nvPr/>
        </p:nvSpPr>
        <p:spPr>
          <a:xfrm>
            <a:off x="8394192" y="2011680"/>
            <a:ext cx="685800" cy="685800"/>
          </a:xfrm>
          <a:prstGeom prst="ellipse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  <p:txBody>
          <a:bodyPr/>
          <a:lstStyle/>
          <a:p/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9358" y="2196846"/>
            <a:ext cx="315468" cy="31546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9217152" y="20116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3</a:t>
            </a:r>
            <a:endParaRPr lang="en-US" sz="1100" dirty="0"/>
          </a:p>
        </p:txBody>
      </p:sp>
      <p:sp>
        <p:nvSpPr>
          <p:cNvPr id="21" name="Text 16"/>
          <p:cNvSpPr txBox="1"/>
          <p:nvPr/>
        </p:nvSpPr>
        <p:spPr>
          <a:xfrm>
            <a:off x="9217152" y="22860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 a Payment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8394192" y="2971800"/>
            <a:ext cx="29718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registration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fee plan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row is inserted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Dues update in the report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111B33"/>
          </a:solidFill>
          <a:ln w="12700">
            <a:solidFill>
              <a:srgbClr val="111B33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Text 2"/>
          <p:cNvSpPr txBox="1"/>
          <p:nvPr/>
        </p:nvSpPr>
        <p:spPr>
          <a:xfrm>
            <a:off x="914400" y="178308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377440"/>
            <a:ext cx="46177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3NF schema with 13 tables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 enforced inside the database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application with role-based access and reports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291072" y="146304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111B33"/>
          </a:solidFill>
          <a:ln w="12700">
            <a:solidFill>
              <a:srgbClr val="111B33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Text 5"/>
          <p:cNvSpPr txBox="1"/>
          <p:nvPr/>
        </p:nvSpPr>
        <p:spPr>
          <a:xfrm>
            <a:off x="6656832" y="178308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656832" y="2377440"/>
            <a:ext cx="46177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GPS tracking integration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and app notifications to parents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fee payment gateway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972800" y="347472"/>
            <a:ext cx="640080" cy="640080"/>
          </a:xfrm>
          <a:prstGeom prst="ellipse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  <p:txBody>
          <a:bodyPr/>
          <a:lstStyle/>
          <a:p/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45622" y="520294"/>
            <a:ext cx="294437" cy="29443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thm15="http://schemas.microsoft.com/office/thememl/2012/main"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>School Transport DBMS - Review 3</dc:title>
  <dc:subject>PptxGenJS Presentation</dc:subject>
  <dc:creator>PptxGenJS</dc:creator>
  <lastModifiedBy>PptxGenJS</lastModifiedBy>
  <revision>1</revision>
  <dcterms:created xsi:type="dcterms:W3CDTF">2026-10-06T13:34:05.0000000Z</dcterms:created>
  <dcterms:modified xsi:type="dcterms:W3CDTF">2026-10-12T05:37:47.8100729Z</dcterms:modified>
</coreProperties>
</file>